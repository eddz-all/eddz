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76F473-B448-45CD-BD4D-3FFD4B60D64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封面：说明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ProjectPilot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的定位是多服务器项目环境管理的中央控制平台，核心能力包括状态统一查看、环境检测、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分析和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异步执行。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D633B5-C219-423E-B9F3-CF695EE3467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强调本项目不是单纯做页面，而是解决多服务器项目状态分散、安全执行边界不清、过程不可追踪的问题。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26B823-3251-414D-A832-EE5A74907F9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本页概括目标：统一管理、统一检测、统一展示、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辅助分析、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执行、任务和日志追踪。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5140BA-DE34-46A4-A3FE-9DE0DD85634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核心架构：前端只连总后端，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只连总后端，总后端负责数据库、任务调度和记录。强调不依赖后端批量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SSH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登录。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C09B25-2FF5-42AA-91D4-428D294912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前端截图页先保留占位。后续可补充项目总览、服务器列表、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Git/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环境矩阵、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Insight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Recent Activity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E506FC-A78F-4061-9B3C-287BCD4E195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讲后端的三层结构和核心职责：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接收、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Service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编排、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Model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持久化。强调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OperationLog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ExecutorTask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的意义。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7A5D9F-87AB-4026-A35F-33FF6E0768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解释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ProjectServerMapping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之间的多对多关系，以及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GitStatus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EnvironmentSnapshot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ExecutorTask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OperationLog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如何围绕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保存。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B50305-99C6-4B8C-96D9-116BC11EC91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讲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模式的核心：服务器主动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poll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，拿到任务后本机执行，再把结果回传。状态流转为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queued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running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completed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或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failed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7F9592-779B-4B01-92D6-A4A9F2A741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强调系统不仅展示历史成功结果，也关注最近一次检测是否失败，避免前端展示过期或误导状态。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641852-C533-4324-8029-A7164DBC73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讲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能力从建议发展到计划：环境分析、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分析、配置计划、主动任务规划。强调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不直接执行命令。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F44810-CAF9-4E93-B9E5-5E85433796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讲安全机制：用户确认、后端安全检查、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allowed-root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、任务状态和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OperationLog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。强调这不是黑盒自动执行。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49480E-E268-48F0-BEBD-03710CFDEF9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建议演示流程：查看项目和服务器、选择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ProjectPilot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与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server-b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、点击检测、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拉取任务并回传、展示检测状态和错误信息、输入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需求、确认计划后进入任务队列。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92C970-B229-40E8-A19D-3B1750F06E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讲创新点时用闭环来总结：中央控制、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分布式执行、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智能分析、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主动计划、安全执行和全流程留痕。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04B087-DA68-4EC7-ACE0-ADA74066341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讲不足时不要只说问题，要强调核心闭环已经跑通，后续优化集中在稳定性、可视化、权限控制和工程化部署。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7B7F8A-FF03-491F-A537-AD27AB21CCE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总结三句话：前端负责展示和操作，后端负责数据管理、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分析和任务调度，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Executor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负责在各服务器本机执行任务并回传结果。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0A3ED4-6644-4BB0-AD96-F6B146D4FE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8A421B-3648-4084-ACC4-857597255B54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SC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SC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/>
          <p:cNvSpPr/>
          <p:nvPr/>
        </p:nvSpPr>
        <p:spPr>
          <a:xfrm>
            <a:off x="658080" y="484560"/>
            <a:ext cx="1280160" cy="360"/>
          </a:xfrm>
          <a:prstGeom prst="line">
            <a:avLst/>
          </a:prstGeom>
          <a:ln w="317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76800" y="71316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22d3ee"/>
                </a:solidFill>
                <a:effectLst/>
                <a:uFillTx/>
                <a:latin typeface="Noto Sans CJK SC"/>
                <a:ea typeface="Noto Sans CJK SC"/>
              </a:rPr>
              <a:t>ProjectPilot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58440" y="1170360"/>
            <a:ext cx="667476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面向多服务器项目环境管理的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中央控制平台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94800" y="2587680"/>
            <a:ext cx="6400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统一管理项目状态、环境检测、</a:t>
            </a:r>
            <a:r>
              <a:rPr b="0" lang="en-US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0" lang="zh-CN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分析与 </a:t>
            </a:r>
            <a:r>
              <a:rPr b="0" lang="en-US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b="0" lang="zh-CN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异步执行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713160" y="502920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项目名称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774080" y="50155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ProjectPilot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713160" y="534024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汇报人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774080" y="532656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待填写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713160" y="565092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小组成员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1774080" y="563724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待填写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713160" y="596196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日期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1774080" y="594828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待填写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7479720" y="1207080"/>
            <a:ext cx="1170000" cy="639720"/>
          </a:xfrm>
          <a:prstGeom prst="roundRect">
            <a:avLst>
              <a:gd name="adj" fmla="val 11429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前端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控制台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9125640" y="2011680"/>
            <a:ext cx="1389600" cy="731160"/>
          </a:xfrm>
          <a:prstGeom prst="roundRect">
            <a:avLst>
              <a:gd name="adj" fmla="val 10000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总后端</a:t>
            </a:r>
            <a:endParaRPr b="0" lang="en-US" sz="10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调度 </a:t>
            </a:r>
            <a:r>
              <a:rPr b="1" lang="en-US" sz="10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b="1" lang="zh-CN" sz="10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记录</a:t>
            </a:r>
            <a:endParaRPr b="0" lang="en-US" sz="10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9180720" y="3401640"/>
            <a:ext cx="1279800" cy="548280"/>
          </a:xfrm>
          <a:prstGeom prst="roundRect">
            <a:avLst>
              <a:gd name="adj" fmla="val 13333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数据库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7461360" y="4316040"/>
            <a:ext cx="1188360" cy="548280"/>
          </a:xfrm>
          <a:prstGeom prst="roundRect">
            <a:avLst>
              <a:gd name="adj" fmla="val 13333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9217080" y="4901040"/>
            <a:ext cx="1462680" cy="548280"/>
          </a:xfrm>
          <a:prstGeom prst="roundRect">
            <a:avLst>
              <a:gd name="adj" fmla="val 13333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服务器 </a:t>
            </a:r>
            <a:r>
              <a:rPr b="1" lang="en-US" sz="10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 / B / C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8650080" y="1572480"/>
            <a:ext cx="475560" cy="731520"/>
          </a:xfrm>
          <a:prstGeom prst="line">
            <a:avLst/>
          </a:prstGeom>
          <a:ln w="12700">
            <a:solidFill>
              <a:srgbClr val="475569">
                <a:alpha val="92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9820440" y="2743200"/>
            <a:ext cx="360" cy="658080"/>
          </a:xfrm>
          <a:prstGeom prst="line">
            <a:avLst/>
          </a:prstGeom>
          <a:ln w="12700">
            <a:solidFill>
              <a:srgbClr val="475569">
                <a:alpha val="92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8650080" y="4553640"/>
            <a:ext cx="567000" cy="585000"/>
          </a:xfrm>
          <a:prstGeom prst="line">
            <a:avLst/>
          </a:prstGeom>
          <a:ln w="12700">
            <a:solidFill>
              <a:srgbClr val="34d399">
                <a:alpha val="88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0"/>
          <p:cNvSpPr/>
          <p:nvPr/>
        </p:nvSpPr>
        <p:spPr>
          <a:xfrm flipH="1">
            <a:off x="8064720" y="2486880"/>
            <a:ext cx="1060920" cy="1828800"/>
          </a:xfrm>
          <a:prstGeom prst="line">
            <a:avLst/>
          </a:prstGeom>
          <a:ln w="12700">
            <a:solidFill>
              <a:srgbClr val="34d399">
                <a:alpha val="90000"/>
              </a:srgbClr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1/15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sldNum" idx="5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6465B15-389C-4BB9-823A-6586BCD36CF8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1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为什么需要 </a:t>
            </a: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ProjectPilot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项目背景与痛点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2/15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694800" y="1207080"/>
            <a:ext cx="49006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多人协作时，项目分布在多台服务器上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Git </a:t>
            </a:r>
            <a:r>
              <a:rPr b="0" lang="zh-CN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状态、</a:t>
            </a: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Python / Node / Docker </a:t>
            </a:r>
            <a:r>
              <a:rPr b="0" lang="zh-CN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环境不一致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批量 </a:t>
            </a: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SSH </a:t>
            </a:r>
            <a:r>
              <a:rPr b="0" lang="zh-CN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登录执行命令存在安全风险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操作过程缺少统一记录，问题难追踪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人工排查成本高，容易遗漏环境差异和 </a:t>
            </a:r>
            <a:r>
              <a:rPr b="0" lang="en-US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0" lang="zh-CN" sz="17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风险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5989320" y="2816280"/>
            <a:ext cx="968760" cy="529920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用户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 flipV="1">
            <a:off x="6958440" y="1581840"/>
            <a:ext cx="1014840" cy="149940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7973640" y="1170360"/>
            <a:ext cx="2248920" cy="822600"/>
          </a:xfrm>
          <a:prstGeom prst="roundRect">
            <a:avLst>
              <a:gd name="adj" fmla="val 8889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server-a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main </a:t>
            </a:r>
            <a:r>
              <a:rPr b="1" lang="zh-CN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分支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Docker OK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10405800" y="1380600"/>
            <a:ext cx="840960" cy="273960"/>
          </a:xfrm>
          <a:prstGeom prst="roundRect">
            <a:avLst>
              <a:gd name="adj" fmla="val 16667"/>
            </a:avLst>
          </a:prstGeom>
          <a:solidFill>
            <a:srgbClr val="34d399">
              <a:alpha val="12000"/>
            </a:srgbClr>
          </a:solidFill>
          <a:ln w="10160">
            <a:solidFill>
              <a:srgbClr val="34d399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87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状态不同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0"/>
          <p:cNvSpPr/>
          <p:nvPr/>
        </p:nvSpPr>
        <p:spPr>
          <a:xfrm>
            <a:off x="6958440" y="3081240"/>
            <a:ext cx="1014840" cy="7344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7973640" y="2743200"/>
            <a:ext cx="2248920" cy="822600"/>
          </a:xfrm>
          <a:prstGeom prst="roundRect">
            <a:avLst>
              <a:gd name="adj" fmla="val 8889"/>
            </a:avLst>
          </a:prstGeom>
          <a:solidFill>
            <a:srgbClr val="162033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server-b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dev </a:t>
            </a:r>
            <a:r>
              <a:rPr b="1" lang="zh-CN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分支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Python </a:t>
            </a:r>
            <a:r>
              <a:rPr b="1" lang="zh-CN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版本低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10405800" y="2953440"/>
            <a:ext cx="840960" cy="273960"/>
          </a:xfrm>
          <a:prstGeom prst="roundRect">
            <a:avLst>
              <a:gd name="adj" fmla="val 16667"/>
            </a:avLst>
          </a:prstGeom>
          <a:solidFill>
            <a:srgbClr val="fbbf24">
              <a:alpha val="12000"/>
            </a:srgbClr>
          </a:solidFill>
          <a:ln w="10160">
            <a:solidFill>
              <a:srgbClr val="fbbf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870" strike="noStrike" u="none">
                <a:solidFill>
                  <a:srgbClr val="fbbf24"/>
                </a:solidFill>
                <a:effectLst/>
                <a:uFillTx/>
                <a:latin typeface="Noto Sans CJK SC"/>
                <a:ea typeface="Noto Sans CJK SC"/>
              </a:rPr>
              <a:t>状态不同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3"/>
          <p:cNvSpPr/>
          <p:nvPr/>
        </p:nvSpPr>
        <p:spPr>
          <a:xfrm>
            <a:off x="6958440" y="3081240"/>
            <a:ext cx="1014840" cy="164592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7973640" y="4316040"/>
            <a:ext cx="2248920" cy="822600"/>
          </a:xfrm>
          <a:prstGeom prst="roundRect">
            <a:avLst>
              <a:gd name="adj" fmla="val 8889"/>
            </a:avLst>
          </a:prstGeom>
          <a:solidFill>
            <a:srgbClr val="162033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server-c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有未提交改动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Docker </a:t>
            </a:r>
            <a:r>
              <a:rPr b="1" lang="zh-CN" sz="11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未运行</a:t>
            </a:r>
            <a:endParaRPr b="0" lang="en-US" sz="11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10405800" y="4526280"/>
            <a:ext cx="840960" cy="273960"/>
          </a:xfrm>
          <a:prstGeom prst="roundRect">
            <a:avLst>
              <a:gd name="adj" fmla="val 16667"/>
            </a:avLst>
          </a:prstGeom>
          <a:solidFill>
            <a:srgbClr val="f87171">
              <a:alpha val="12000"/>
            </a:srgbClr>
          </a:solidFill>
          <a:ln w="10160">
            <a:solidFill>
              <a:srgbClr val="f87171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870" strike="noStrike" u="none">
                <a:solidFill>
                  <a:srgbClr val="f87171"/>
                </a:solidFill>
                <a:effectLst/>
                <a:uFillTx/>
                <a:latin typeface="Noto Sans CJK SC"/>
                <a:ea typeface="Noto Sans CJK SC"/>
              </a:rPr>
              <a:t>状态不同</a:t>
            </a:r>
            <a:endParaRPr b="0" lang="en-US" sz="8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694800" y="5605200"/>
            <a:ext cx="10826280" cy="52992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22d3e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核心问题：多服务器项目状态看不清、执行不安全、过程不可追踪。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sldNum" idx="6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D6F61B4-5F14-4985-A52C-9C06F27CFC0F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2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统一查看、分析、调度与执行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项目目标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3/15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713160" y="1078920"/>
            <a:ext cx="10881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ProjectPilot </a:t>
            </a:r>
            <a:r>
              <a:rPr b="1" lang="zh-CN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的定位是中央控制台：总后端负责调度与记录，</a:t>
            </a:r>
            <a:r>
              <a:rPr b="1" lang="en-US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b="1" lang="zh-CN" sz="155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负责在各服务器本机执行。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713160" y="2057400"/>
            <a:ext cx="1901520" cy="932400"/>
          </a:xfrm>
          <a:prstGeom prst="roundRect">
            <a:avLst>
              <a:gd name="adj" fmla="val 7843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项目管理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822960" y="1719000"/>
            <a:ext cx="365400" cy="228240"/>
          </a:xfrm>
          <a:prstGeom prst="roundRect">
            <a:avLst>
              <a:gd name="adj" fmla="val 16667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22d3ee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2615040" y="2523600"/>
            <a:ext cx="45720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3072240" y="2057400"/>
            <a:ext cx="1901520" cy="932400"/>
          </a:xfrm>
          <a:prstGeom prst="roundRect">
            <a:avLst>
              <a:gd name="adj" fmla="val 7843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服务器管理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3182040" y="1719000"/>
            <a:ext cx="365400" cy="228240"/>
          </a:xfrm>
          <a:prstGeom prst="roundRect">
            <a:avLst>
              <a:gd name="adj" fmla="val 16667"/>
            </a:avLst>
          </a:prstGeom>
          <a:solidFill>
            <a:srgbClr val="60a5fa">
              <a:alpha val="18000"/>
            </a:srgbClr>
          </a:solidFill>
          <a:ln w="10160">
            <a:solidFill>
              <a:srgbClr val="60a5fa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60a5fa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4974120" y="2523600"/>
            <a:ext cx="45720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5431680" y="2057400"/>
            <a:ext cx="1901520" cy="932400"/>
          </a:xfrm>
          <a:prstGeom prst="roundRect">
            <a:avLst>
              <a:gd name="adj" fmla="val 7843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状态检测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5541120" y="1719000"/>
            <a:ext cx="365400" cy="228240"/>
          </a:xfrm>
          <a:prstGeom prst="roundRect">
            <a:avLst>
              <a:gd name="adj" fmla="val 16667"/>
            </a:avLst>
          </a:prstGeom>
          <a:solidFill>
            <a:srgbClr val="34d399">
              <a:alpha val="18000"/>
            </a:srgbClr>
          </a:solidFill>
          <a:ln w="10160">
            <a:solidFill>
              <a:srgbClr val="34d399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7333200" y="2523600"/>
            <a:ext cx="45720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7790760" y="2057400"/>
            <a:ext cx="1901520" cy="932400"/>
          </a:xfrm>
          <a:prstGeom prst="roundRect">
            <a:avLst>
              <a:gd name="adj" fmla="val 7843"/>
            </a:avLst>
          </a:prstGeom>
          <a:solidFill>
            <a:srgbClr val="162033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4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分析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7900560" y="1719000"/>
            <a:ext cx="365400" cy="228240"/>
          </a:xfrm>
          <a:prstGeom prst="roundRect">
            <a:avLst>
              <a:gd name="adj" fmla="val 16667"/>
            </a:avLst>
          </a:prstGeom>
          <a:solidFill>
            <a:srgbClr val="a78bfa">
              <a:alpha val="18000"/>
            </a:srgbClr>
          </a:solidFill>
          <a:ln w="10160">
            <a:solidFill>
              <a:srgbClr val="a78bfa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a78bfa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7"/>
          <p:cNvSpPr/>
          <p:nvPr/>
        </p:nvSpPr>
        <p:spPr>
          <a:xfrm>
            <a:off x="9692640" y="2523600"/>
            <a:ext cx="45720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10149840" y="2057400"/>
            <a:ext cx="1901520" cy="932400"/>
          </a:xfrm>
          <a:prstGeom prst="roundRect">
            <a:avLst>
              <a:gd name="adj" fmla="val 7843"/>
            </a:avLst>
          </a:prstGeom>
          <a:solidFill>
            <a:srgbClr val="162033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执行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10259640" y="1719000"/>
            <a:ext cx="365400" cy="228240"/>
          </a:xfrm>
          <a:prstGeom prst="roundRect">
            <a:avLst>
              <a:gd name="adj" fmla="val 16667"/>
            </a:avLst>
          </a:prstGeom>
          <a:solidFill>
            <a:srgbClr val="fbbf24">
              <a:alpha val="18000"/>
            </a:srgbClr>
          </a:solidFill>
          <a:ln w="10160">
            <a:solidFill>
              <a:srgbClr val="fbbf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bbf24"/>
                </a:solidFill>
                <a:effectLst/>
                <a:uFillTx/>
                <a:latin typeface="Noto Sans CJK SC"/>
                <a:ea typeface="Noto Sans CJK SC"/>
              </a:rPr>
              <a:t>05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786240" y="3703320"/>
            <a:ext cx="52848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统一管理项目、服务器及绑定关系</a:t>
            </a:r>
            <a:endParaRPr b="0" lang="en-US" sz="14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统一检测 </a:t>
            </a: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0" lang="zh-CN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状态和运行环境</a:t>
            </a:r>
            <a:endParaRPr b="0" lang="en-US" sz="14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聚合多服务器状态并展示差异</a:t>
            </a:r>
            <a:endParaRPr b="0" lang="en-US" sz="14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借助 </a:t>
            </a: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0" lang="zh-CN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分析风险并生成配置计划</a:t>
            </a:r>
            <a:endParaRPr b="0" lang="en-US" sz="14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通过 </a:t>
            </a: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b="0" lang="zh-CN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模式受控执行任务</a:t>
            </a:r>
            <a:endParaRPr b="0" lang="en-US" sz="14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全流程记录任务状态和操作日志</a:t>
            </a:r>
            <a:endParaRPr b="0" lang="en-US" sz="14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6473880" y="3913560"/>
            <a:ext cx="4919040" cy="6580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全流程留痕：状态快照 </a:t>
            </a:r>
            <a:r>
              <a:rPr b="1" lang="en-US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b="1" lang="zh-CN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任务生命周期 </a:t>
            </a:r>
            <a:r>
              <a:rPr b="1" lang="en-US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b="1" lang="zh-CN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操作日志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2"/>
          <p:cNvSpPr/>
          <p:nvPr/>
        </p:nvSpPr>
        <p:spPr>
          <a:xfrm>
            <a:off x="6894720" y="4818960"/>
            <a:ext cx="4114440" cy="3470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4d399"/>
                </a:solidFill>
                <a:effectLst/>
                <a:uFillTx/>
                <a:latin typeface="Noto Sans Mono CJK SC"/>
                <a:ea typeface="Noto Sans Mono CJK SC"/>
              </a:rPr>
              <a:t>queued / running / completed / failed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sldNum" idx="7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2930EBE-5518-4434-898F-99BF8B6CA1C7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3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中央控制 </a:t>
            </a: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+ </a:t>
            </a: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分布式执行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总体架构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4/15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822960" y="1536120"/>
            <a:ext cx="1115280" cy="529920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用户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633400"/>
            <a:ext cx="1645560" cy="566640"/>
          </a:xfrm>
          <a:prstGeom prst="roundRect">
            <a:avLst>
              <a:gd name="adj" fmla="val 12903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前端控制台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3840480" y="2212920"/>
            <a:ext cx="1919880" cy="785880"/>
          </a:xfrm>
          <a:prstGeom prst="roundRect">
            <a:avLst>
              <a:gd name="adj" fmla="val 9302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ProjectPilot</a:t>
            </a:r>
            <a:endParaRPr b="0" lang="en-US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总后端</a:t>
            </a:r>
            <a:endParaRPr b="0" lang="en-US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4023360" y="3931920"/>
            <a:ext cx="1554120" cy="566640"/>
          </a:xfrm>
          <a:prstGeom prst="roundRect">
            <a:avLst>
              <a:gd name="adj" fmla="val 12903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数据库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1380600" y="2066400"/>
            <a:ext cx="360" cy="56700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 flipV="1">
            <a:off x="2468880" y="2606040"/>
            <a:ext cx="1371600" cy="310680"/>
          </a:xfrm>
          <a:prstGeom prst="line">
            <a:avLst/>
          </a:prstGeom>
          <a:ln w="13335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2688480" y="248724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22d3ee"/>
                </a:solidFill>
                <a:effectLst/>
                <a:uFillTx/>
                <a:latin typeface="Noto Sans CJK SC"/>
                <a:ea typeface="Noto Sans CJK SC"/>
              </a:rPr>
              <a:t>HTTP API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4800600" y="2999160"/>
            <a:ext cx="360" cy="9327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7479720" y="1298520"/>
            <a:ext cx="1444320" cy="529920"/>
          </a:xfrm>
          <a:prstGeom prst="roundRect">
            <a:avLst>
              <a:gd name="adj" fmla="val 13793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 A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9601200" y="1207080"/>
            <a:ext cx="1645560" cy="712800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本机 </a:t>
            </a:r>
            <a:r>
              <a:rPr b="0" lang="en-US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 / </a:t>
            </a: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环境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命令执行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8924400" y="1563480"/>
            <a:ext cx="676800" cy="360"/>
          </a:xfrm>
          <a:prstGeom prst="line">
            <a:avLst/>
          </a:prstGeom>
          <a:ln w="12700">
            <a:solidFill>
              <a:srgbClr val="34d3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7479720" y="2597040"/>
            <a:ext cx="1444320" cy="529920"/>
          </a:xfrm>
          <a:prstGeom prst="roundRect">
            <a:avLst>
              <a:gd name="adj" fmla="val 13793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 B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9601200" y="2505600"/>
            <a:ext cx="1645560" cy="712800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本机 </a:t>
            </a:r>
            <a:r>
              <a:rPr b="0" lang="en-US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 / </a:t>
            </a: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环境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命令执行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8924400" y="2862000"/>
            <a:ext cx="676800" cy="360"/>
          </a:xfrm>
          <a:prstGeom prst="line">
            <a:avLst/>
          </a:prstGeom>
          <a:ln w="12700">
            <a:solidFill>
              <a:srgbClr val="34d3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7479720" y="3895200"/>
            <a:ext cx="1444320" cy="529920"/>
          </a:xfrm>
          <a:prstGeom prst="roundRect">
            <a:avLst>
              <a:gd name="adj" fmla="val 13793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 C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9601200" y="3803760"/>
            <a:ext cx="1645560" cy="712800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本机 </a:t>
            </a:r>
            <a:r>
              <a:rPr b="0" lang="en-US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 / </a:t>
            </a: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环境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命令执行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1"/>
          <p:cNvSpPr/>
          <p:nvPr/>
        </p:nvSpPr>
        <p:spPr>
          <a:xfrm>
            <a:off x="8924400" y="4160520"/>
            <a:ext cx="676800" cy="360"/>
          </a:xfrm>
          <a:prstGeom prst="line">
            <a:avLst/>
          </a:prstGeom>
          <a:ln w="12700">
            <a:solidFill>
              <a:srgbClr val="34d3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2"/>
          <p:cNvSpPr/>
          <p:nvPr/>
        </p:nvSpPr>
        <p:spPr>
          <a:xfrm flipV="1">
            <a:off x="5760720" y="1563480"/>
            <a:ext cx="1719000" cy="1042560"/>
          </a:xfrm>
          <a:prstGeom prst="line">
            <a:avLst/>
          </a:prstGeom>
          <a:ln w="12700">
            <a:solidFill>
              <a:srgbClr val="34d3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5760720" y="2606040"/>
            <a:ext cx="1719000" cy="255960"/>
          </a:xfrm>
          <a:prstGeom prst="line">
            <a:avLst/>
          </a:prstGeom>
          <a:ln w="12700">
            <a:solidFill>
              <a:srgbClr val="34d3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4"/>
          <p:cNvSpPr/>
          <p:nvPr/>
        </p:nvSpPr>
        <p:spPr>
          <a:xfrm>
            <a:off x="5760720" y="2606040"/>
            <a:ext cx="1719000" cy="1554480"/>
          </a:xfrm>
          <a:prstGeom prst="line">
            <a:avLst/>
          </a:prstGeom>
          <a:ln w="12700">
            <a:solidFill>
              <a:srgbClr val="34d399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5870520" y="2304360"/>
            <a:ext cx="1389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HTTPS </a:t>
            </a:r>
            <a:r>
              <a:rPr b="0" lang="zh-CN" sz="92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轮询 </a:t>
            </a:r>
            <a:r>
              <a:rPr b="0" lang="en-US" sz="92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b="0" lang="zh-CN" sz="92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回传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786240" y="5523120"/>
            <a:ext cx="10716480" cy="56664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22d3e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安全边界更清楚：前端不直接连接服务器；</a:t>
            </a:r>
            <a:r>
              <a:rPr b="1" lang="en-US" sz="12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b="1" lang="zh-CN" sz="12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主动访问总后端，后端统一创建任务、保存结果、记录日志。</a:t>
            </a:r>
            <a:endParaRPr b="0" lang="en-US" sz="12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sldNum" idx="8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B5920B0-C6BB-45FE-A65F-11358E865F73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4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前端控制台：统一展示状态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前端成果展示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5/15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694800" y="1188720"/>
            <a:ext cx="6446160" cy="41144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524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前端页面截图占位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待补充：项目总览 </a:t>
            </a:r>
            <a:r>
              <a:rPr b="1" lang="en-US" sz="140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b="1" lang="zh-CN" sz="140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仪表盘指标 </a:t>
            </a:r>
            <a:r>
              <a:rPr b="1" lang="en-US" sz="140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b="1" lang="zh-CN" sz="140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服务器状态列表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914400" y="1609200"/>
            <a:ext cx="5998320" cy="360"/>
          </a:xfrm>
          <a:prstGeom prst="line">
            <a:avLst/>
          </a:prstGeom>
          <a:ln w="10160">
            <a:solidFill>
              <a:srgbClr val="334155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7479720" y="1298520"/>
            <a:ext cx="37670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项目总览与仪表盘指标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多服务器状态对比列表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Git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与环境矩阵展示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Git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风险和环境问题提示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AI Insight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与计划结果展示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Recent Activity /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任务日志展示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7498080" y="4133160"/>
            <a:ext cx="3547440" cy="4935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34d399"/>
                </a:solidFill>
                <a:effectLst/>
                <a:uFillTx/>
                <a:latin typeface="Noto Sans Mono CJK SC"/>
                <a:ea typeface="Noto Sans Mono CJK SC"/>
              </a:rPr>
              <a:t>任务状态：</a:t>
            </a:r>
            <a:r>
              <a:rPr b="0" lang="en-US" sz="900" strike="noStrike" u="none">
                <a:solidFill>
                  <a:srgbClr val="34d399"/>
                </a:solidFill>
                <a:effectLst/>
                <a:uFillTx/>
                <a:latin typeface="Noto Sans Mono CJK SC"/>
                <a:ea typeface="Noto Sans Mono CJK SC"/>
              </a:rPr>
              <a:t>queued / running / completed / failed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7479720" y="4937760"/>
            <a:ext cx="3767040" cy="63972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60a5f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前端是用户的中央控制台，负责把后端聚合后的项目、服务器、任务和 </a:t>
            </a: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结果可视化。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sldNum" idx="9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F28AC94-C30F-40D4-A4B3-652A663998BF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5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后端：调度中心 </a:t>
            </a: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+ </a:t>
            </a: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数据中心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后端设计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6/15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60120" y="1371600"/>
            <a:ext cx="1919880" cy="694440"/>
          </a:xfrm>
          <a:prstGeom prst="roundRect">
            <a:avLst>
              <a:gd name="adj" fmla="val 10526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Routers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API </a:t>
            </a:r>
            <a:r>
              <a:rPr b="1" lang="zh-CN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接收请求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960120" y="2743200"/>
            <a:ext cx="1919880" cy="767880"/>
          </a:xfrm>
          <a:prstGeom prst="roundRect">
            <a:avLst>
              <a:gd name="adj" fmla="val 9524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Services</a:t>
            </a:r>
            <a:endParaRPr b="0" lang="en-US" sz="12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业务编排 </a:t>
            </a:r>
            <a:r>
              <a:rPr b="1" lang="en-US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b="1" lang="zh-CN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调用底层能力</a:t>
            </a:r>
            <a:endParaRPr b="0" lang="en-US" sz="12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960120" y="4187880"/>
            <a:ext cx="1919880" cy="767880"/>
          </a:xfrm>
          <a:prstGeom prst="roundRect">
            <a:avLst>
              <a:gd name="adj" fmla="val 9524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Models / Database</a:t>
            </a:r>
            <a:endParaRPr b="0" lang="en-US" sz="12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数据结构 </a:t>
            </a:r>
            <a:r>
              <a:rPr b="1" lang="en-US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b="1" lang="zh-CN" sz="12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持久化</a:t>
            </a:r>
            <a:endParaRPr b="0" lang="en-US" sz="12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1920240" y="2066400"/>
            <a:ext cx="360" cy="67680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1920240" y="3511080"/>
            <a:ext cx="360" cy="67680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3840480" y="1207080"/>
            <a:ext cx="7278120" cy="23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FastAPI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提供统一 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REST API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SQLite + SQLAlchemy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保存项目、服务器、绑定关系、快照、任务和日志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Service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层负责任务编排，不把业务逻辑写在前端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统一处理检测任务创建、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分析、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分发和结果入库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OperationLog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记录关键操作，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ExecutorTask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记录异步任务生命周期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3840480" y="415152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0160">
            <a:solidFill>
              <a:srgbClr val="34d399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0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项目管理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5139000" y="415152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60a5fa">
              <a:alpha val="14000"/>
            </a:srgbClr>
          </a:solidFill>
          <a:ln w="10160">
            <a:solidFill>
              <a:srgbClr val="60a5fa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00" strike="noStrike" u="none">
                <a:solidFill>
                  <a:srgbClr val="60a5fa"/>
                </a:solidFill>
                <a:effectLst/>
                <a:uFillTx/>
                <a:latin typeface="Noto Sans CJK SC"/>
                <a:ea typeface="Noto Sans CJK SC"/>
              </a:rPr>
              <a:t>服务器管理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6437520" y="415152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0160">
            <a:solidFill>
              <a:srgbClr val="34d399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0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绑定关系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7735680" y="415152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60a5fa">
              <a:alpha val="14000"/>
            </a:srgbClr>
          </a:solidFill>
          <a:ln w="10160">
            <a:solidFill>
              <a:srgbClr val="60a5fa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0a5fa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900" strike="noStrike" u="none">
                <a:solidFill>
                  <a:srgbClr val="60a5fa"/>
                </a:solidFill>
                <a:effectLst/>
                <a:uFillTx/>
                <a:latin typeface="Noto Sans CJK SC"/>
                <a:ea typeface="Noto Sans CJK SC"/>
              </a:rPr>
              <a:t>分析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9034200" y="415152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0160">
            <a:solidFill>
              <a:srgbClr val="34d399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0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任务分发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3840480" y="464508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60a5fa">
              <a:alpha val="14000"/>
            </a:srgbClr>
          </a:solidFill>
          <a:ln w="10160">
            <a:solidFill>
              <a:srgbClr val="60a5fa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00" strike="noStrike" u="none">
                <a:solidFill>
                  <a:srgbClr val="60a5fa"/>
                </a:solidFill>
                <a:effectLst/>
                <a:uFillTx/>
                <a:latin typeface="Noto Sans CJK SC"/>
                <a:ea typeface="Noto Sans CJK SC"/>
              </a:rPr>
              <a:t>日志追踪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3840480" y="5303520"/>
            <a:ext cx="6820920" cy="52992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后端是项目的“大脑”：统一决策、调度和留痕，不只是接口转发。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sldNum" idx="10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853E351-4EAB-41AA-BE85-5A0427E7D819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项目、服务器、快照、任务与日志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数据库与核心数据模型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7/15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822960" y="2322720"/>
            <a:ext cx="1700280" cy="712800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</a:t>
            </a:r>
            <a:endParaRPr b="0" lang="en-US" sz="11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项目基本信息</a:t>
            </a:r>
            <a:endParaRPr b="0" lang="en-US" sz="11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3328560" y="2212920"/>
            <a:ext cx="2057040" cy="859320"/>
          </a:xfrm>
          <a:prstGeom prst="roundRect">
            <a:avLst>
              <a:gd name="adj" fmla="val 8511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ProjectServerMapping</a:t>
            </a:r>
            <a:endParaRPr b="0" lang="en-US" sz="10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project_path</a:t>
            </a:r>
            <a:endParaRPr b="0" lang="en-US" sz="10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6181200" y="2322720"/>
            <a:ext cx="1755360" cy="712800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7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Server</a:t>
            </a:r>
            <a:endParaRPr b="0" lang="en-US" sz="11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7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connection_mode</a:t>
            </a:r>
            <a:endParaRPr b="0" lang="en-US" sz="11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2523600" y="2679120"/>
            <a:ext cx="80460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5385600" y="2679120"/>
            <a:ext cx="79560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2688480" y="2432160"/>
            <a:ext cx="42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1---N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5532120" y="2432160"/>
            <a:ext cx="42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N---1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1005840" y="3822120"/>
            <a:ext cx="1462680" cy="45684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GitStatus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2761560" y="3822120"/>
            <a:ext cx="1462680" cy="45684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EnvironmentSnapshot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4827960" y="3822120"/>
            <a:ext cx="1462680" cy="45684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ExecutorTask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583680" y="3822120"/>
            <a:ext cx="1462680" cy="45684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OperationLog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877680" y="3273480"/>
            <a:ext cx="6894360" cy="31068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Noto Sans Mono CJK SC"/>
                <a:ea typeface="Noto Sans Mono CJK SC"/>
              </a:rPr>
              <a:t>Project 1---N </a:t>
            </a:r>
            <a:r>
              <a:rPr b="0" lang="zh-CN" sz="900" strike="noStrike" u="none">
                <a:solidFill>
                  <a:srgbClr val="94a3b8"/>
                </a:solidFill>
                <a:effectLst/>
                <a:uFillTx/>
                <a:latin typeface="Noto Sans Mono CJK SC"/>
                <a:ea typeface="Noto Sans Mono CJK SC"/>
              </a:rPr>
              <a:t>状态快照 </a:t>
            </a:r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Noto Sans Mono CJK SC"/>
                <a:ea typeface="Noto Sans Mono CJK SC"/>
              </a:rPr>
              <a:t>/ </a:t>
            </a:r>
            <a:r>
              <a:rPr b="0" lang="zh-CN" sz="900" strike="noStrike" u="none">
                <a:solidFill>
                  <a:srgbClr val="94a3b8"/>
                </a:solidFill>
                <a:effectLst/>
                <a:uFillTx/>
                <a:latin typeface="Noto Sans Mono CJK SC"/>
                <a:ea typeface="Noto Sans Mono CJK SC"/>
              </a:rPr>
              <a:t>异步任务 </a:t>
            </a:r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Noto Sans Mono CJK SC"/>
                <a:ea typeface="Noto Sans Mono CJK SC"/>
              </a:rPr>
              <a:t>/ </a:t>
            </a:r>
            <a:r>
              <a:rPr b="0" lang="zh-CN" sz="900" strike="noStrike" u="none">
                <a:solidFill>
                  <a:srgbClr val="94a3b8"/>
                </a:solidFill>
                <a:effectLst/>
                <a:uFillTx/>
                <a:latin typeface="Noto Sans Mono CJK SC"/>
                <a:ea typeface="Noto Sans Mono CJK SC"/>
              </a:rPr>
              <a:t>操作日志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8540640" y="1444680"/>
            <a:ext cx="2925720" cy="18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项目与服务器是多对多关系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Mapping </a:t>
            </a:r>
            <a:r>
              <a:rPr b="0" lang="zh-CN" sz="132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保存目标服务器路径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Git / </a:t>
            </a:r>
            <a:r>
              <a:rPr b="0" lang="zh-CN" sz="132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环境快照挂到项目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Task / Log </a:t>
            </a:r>
            <a:r>
              <a:rPr b="0" lang="zh-CN" sz="132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追踪执行过程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8540640" y="3858840"/>
            <a:ext cx="2852640" cy="43848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trike="noStrike" u="none">
                <a:solidFill>
                  <a:srgbClr val="22d3ee"/>
                </a:solidFill>
                <a:effectLst/>
                <a:uFillTx/>
                <a:latin typeface="Noto Sans Mono CJK SC"/>
                <a:ea typeface="Noto Sans Mono CJK SC"/>
              </a:rPr>
              <a:t>Project 1---N Mapping N---1 Server</a:t>
            </a:r>
            <a:endParaRPr b="0" lang="en-US" sz="8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822960" y="5285160"/>
            <a:ext cx="10469520" cy="52992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核心模型将“项目在哪台服务器的哪个路径上”显式建模，后续检测、</a:t>
            </a: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分析和执行任务都基于该绑定关系。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sldNum" idx="11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2A18C3D-7309-4856-BC1A-C5D1A7F65913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：服务器主动拉取任务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分布式执行模式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8/15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1280160" y="1783080"/>
            <a:ext cx="360" cy="283464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3620880" y="1783080"/>
            <a:ext cx="360" cy="283464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6108120" y="1783080"/>
            <a:ext cx="360" cy="283464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8714160" y="1783080"/>
            <a:ext cx="360" cy="283464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10817280" y="1783080"/>
            <a:ext cx="360" cy="283464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1773720" y="1993320"/>
            <a:ext cx="1316880" cy="360"/>
          </a:xfrm>
          <a:prstGeom prst="line">
            <a:avLst/>
          </a:prstGeom>
          <a:ln w="1270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1792080" y="1764720"/>
            <a:ext cx="804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0" strike="noStrike" u="none">
                <a:solidFill>
                  <a:srgbClr val="22d3ee"/>
                </a:solidFill>
                <a:effectLst/>
                <a:uFillTx/>
                <a:latin typeface="Noto Sans CJK SC"/>
                <a:ea typeface="Noto Sans CJK SC"/>
              </a:rPr>
              <a:t>点击检测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4114800" y="2541960"/>
            <a:ext cx="1463040" cy="360"/>
          </a:xfrm>
          <a:prstGeom prst="line">
            <a:avLst/>
          </a:prstGeom>
          <a:ln w="12700">
            <a:solidFill>
              <a:srgbClr val="34d3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3858840" y="2295000"/>
            <a:ext cx="121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0" strike="noStrike" u="none">
                <a:solidFill>
                  <a:srgbClr val="34d399"/>
                </a:solidFill>
                <a:effectLst/>
                <a:uFillTx/>
                <a:latin typeface="Noto Sans Mono CJK SC"/>
                <a:ea typeface="Noto Sans Mono CJK SC"/>
              </a:rPr>
              <a:t>POST /executor/poll</a:t>
            </a:r>
            <a:endParaRPr b="0" lang="en-US" sz="8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6601680" y="3072240"/>
            <a:ext cx="1582200" cy="360"/>
          </a:xfrm>
          <a:prstGeom prst="line">
            <a:avLst/>
          </a:prstGeom>
          <a:ln w="12700">
            <a:solidFill>
              <a:srgbClr val="34d3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6620400" y="2834640"/>
            <a:ext cx="712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本机执行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 flipH="1">
            <a:off x="4114800" y="3675600"/>
            <a:ext cx="1463040" cy="360"/>
          </a:xfrm>
          <a:prstGeom prst="line">
            <a:avLst/>
          </a:prstGeom>
          <a:ln w="12700">
            <a:solidFill>
              <a:srgbClr val="34d3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3520440" y="3438000"/>
            <a:ext cx="1956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34d399"/>
                </a:solidFill>
                <a:effectLst/>
                <a:uFillTx/>
                <a:latin typeface="Noto Sans Mono CJK SC"/>
                <a:ea typeface="Noto Sans Mono CJK SC"/>
              </a:rPr>
              <a:t>POST /executor/tasks/{task_id}/result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8"/>
          <p:cNvSpPr/>
          <p:nvPr/>
        </p:nvSpPr>
        <p:spPr>
          <a:xfrm>
            <a:off x="4114800" y="4279320"/>
            <a:ext cx="6172200" cy="360"/>
          </a:xfrm>
          <a:prstGeom prst="line">
            <a:avLst/>
          </a:prstGeom>
          <a:ln w="12700">
            <a:solidFill>
              <a:srgbClr val="60a5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5925240" y="404172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0" strike="noStrike" u="none">
                <a:solidFill>
                  <a:srgbClr val="60a5fa"/>
                </a:solidFill>
                <a:effectLst/>
                <a:uFillTx/>
                <a:latin typeface="Noto Sans CJK SC"/>
                <a:ea typeface="Noto Sans CJK SC"/>
              </a:rPr>
              <a:t>更新状态并写日志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749880" y="1298520"/>
            <a:ext cx="1060200" cy="4384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前端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3090600" y="1298520"/>
            <a:ext cx="1060200" cy="4384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总后端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5577840" y="1298520"/>
            <a:ext cx="1060200" cy="4384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8183880" y="1298520"/>
            <a:ext cx="1060200" cy="4384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本机项目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10287000" y="1298520"/>
            <a:ext cx="1060200" cy="4384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状态 </a:t>
            </a:r>
            <a:r>
              <a:rPr b="1" lang="en-US" sz="10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b="1" lang="zh-CN" sz="10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日志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1298520" y="5193720"/>
            <a:ext cx="932400" cy="347040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queued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2230920" y="5367240"/>
            <a:ext cx="54864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2779920" y="5193720"/>
            <a:ext cx="987120" cy="347040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running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3767040" y="5367240"/>
            <a:ext cx="54864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4316040" y="5193720"/>
            <a:ext cx="1133640" cy="347040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completed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0"/>
          <p:cNvSpPr/>
          <p:nvPr/>
        </p:nvSpPr>
        <p:spPr>
          <a:xfrm>
            <a:off x="3767040" y="5760720"/>
            <a:ext cx="54864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1"/>
          <p:cNvSpPr/>
          <p:nvPr/>
        </p:nvSpPr>
        <p:spPr>
          <a:xfrm>
            <a:off x="4316040" y="5577840"/>
            <a:ext cx="1133640" cy="347040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failed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2"/>
          <p:cNvSpPr/>
          <p:nvPr/>
        </p:nvSpPr>
        <p:spPr>
          <a:xfrm>
            <a:off x="6510600" y="5047560"/>
            <a:ext cx="413280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不需要后端主动 </a:t>
            </a:r>
            <a:r>
              <a:rPr b="0" lang="en-US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SSH </a:t>
            </a:r>
            <a:r>
              <a:rPr b="0" lang="zh-CN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到每台服务器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目标服务器只需能访问总后端 </a:t>
            </a:r>
            <a:r>
              <a:rPr b="0" lang="en-US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HTTPS </a:t>
            </a:r>
            <a:r>
              <a:rPr b="0" lang="zh-CN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地址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支持异步任务状态展示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任务和执行结果全程可追踪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sldNum" idx="12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F6A3B86-9F7C-4F91-B0E3-3428C5B0B485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看清每台服务器的真实状态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与环境检测能力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9/15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804600" y="1143000"/>
            <a:ext cx="5138640" cy="4384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1" lang="zh-CN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检测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987480" y="1810440"/>
            <a:ext cx="473616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当前分支与 </a:t>
            </a: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remote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信息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ahead / behind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情况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是否有未提交改动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最近提交信息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是否为 </a:t>
            </a: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仓库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风险和同步状态判断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6291000" y="1143000"/>
            <a:ext cx="5138640" cy="4384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环境检测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6473880" y="1810440"/>
            <a:ext cx="473616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操作系统与 </a:t>
            </a: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CPU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架构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Python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版本、</a:t>
            </a: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Node.js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版本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Docker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是否安装和运行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CUDA </a:t>
            </a:r>
            <a:r>
              <a:rPr b="0" lang="zh-CN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版本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磁盘占用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运行环境差异对比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804600" y="4370760"/>
            <a:ext cx="10625040" cy="52992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fbbf24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重要改进：综合状态接口返回最新成功快照；如果最新检测失败，不再用旧 </a:t>
            </a:r>
            <a:r>
              <a:rPr b="1" lang="en-US" sz="12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1" lang="zh-CN" sz="12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快照误导前端。</a:t>
            </a:r>
            <a:endParaRPr b="0" lang="en-US" sz="12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1901880" y="5230440"/>
            <a:ext cx="8156160" cy="42012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fbbf24"/>
                </a:solidFill>
                <a:effectLst/>
                <a:uFillTx/>
                <a:latin typeface="Noto Sans Mono CJK SC"/>
                <a:ea typeface="Noto Sans Mono CJK SC"/>
              </a:rPr>
              <a:t>latest_git_detection   latest_environment_detection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sldNum" idx="13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6942E00-D62B-4DDE-9FC3-FE33B7A926FB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：从分析建议到主动计划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能力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10/15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86240" y="1499760"/>
            <a:ext cx="1645560" cy="603000"/>
          </a:xfrm>
          <a:prstGeom prst="roundRect">
            <a:avLst>
              <a:gd name="adj" fmla="val 12121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用户需求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2432160" y="1801080"/>
            <a:ext cx="47556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2907720" y="1499760"/>
            <a:ext cx="1645560" cy="603000"/>
          </a:xfrm>
          <a:prstGeom prst="roundRect">
            <a:avLst>
              <a:gd name="adj" fmla="val 12121"/>
            </a:avLst>
          </a:prstGeom>
          <a:solidFill>
            <a:srgbClr val="162033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生成计划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8"/>
          <p:cNvSpPr/>
          <p:nvPr/>
        </p:nvSpPr>
        <p:spPr>
          <a:xfrm>
            <a:off x="4553640" y="1801080"/>
            <a:ext cx="47556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9"/>
          <p:cNvSpPr/>
          <p:nvPr/>
        </p:nvSpPr>
        <p:spPr>
          <a:xfrm>
            <a:off x="5029200" y="1499760"/>
            <a:ext cx="1645560" cy="603000"/>
          </a:xfrm>
          <a:prstGeom prst="roundRect">
            <a:avLst>
              <a:gd name="adj" fmla="val 12121"/>
            </a:avLst>
          </a:prstGeom>
          <a:solidFill>
            <a:srgbClr val="162033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安全检查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6675120" y="1801080"/>
            <a:ext cx="47520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7150680" y="1499760"/>
            <a:ext cx="1645560" cy="603000"/>
          </a:xfrm>
          <a:prstGeom prst="roundRect">
            <a:avLst>
              <a:gd name="adj" fmla="val 12121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人工确认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2"/>
          <p:cNvSpPr/>
          <p:nvPr/>
        </p:nvSpPr>
        <p:spPr>
          <a:xfrm>
            <a:off x="8796240" y="1801080"/>
            <a:ext cx="47556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3"/>
          <p:cNvSpPr/>
          <p:nvPr/>
        </p:nvSpPr>
        <p:spPr>
          <a:xfrm>
            <a:off x="9272160" y="1499760"/>
            <a:ext cx="1645560" cy="603000"/>
          </a:xfrm>
          <a:prstGeom prst="roundRect">
            <a:avLst>
              <a:gd name="adj" fmla="val 12121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b="1" lang="zh-CN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执行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4"/>
          <p:cNvSpPr/>
          <p:nvPr/>
        </p:nvSpPr>
        <p:spPr>
          <a:xfrm>
            <a:off x="822960" y="288936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环境分析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分析不同服务器环境差异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给出风险和建议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5"/>
          <p:cNvSpPr/>
          <p:nvPr/>
        </p:nvSpPr>
        <p:spPr>
          <a:xfrm>
            <a:off x="6217920" y="288936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分析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调用 </a:t>
            </a:r>
            <a:r>
              <a:rPr b="1" lang="en-US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smart_git </a:t>
            </a: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能力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doctor / map / sync plan / commit plan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822960" y="395028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配置计划生成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根据源服务器与目标服务器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生成配置步骤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7"/>
          <p:cNvSpPr/>
          <p:nvPr/>
        </p:nvSpPr>
        <p:spPr>
          <a:xfrm>
            <a:off x="6217920" y="395028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主动任务规划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自然语言需求 → 结构化计划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确认后转 </a:t>
            </a:r>
            <a:r>
              <a:rPr b="1" lang="en-US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 </a:t>
            </a:r>
            <a:r>
              <a:rPr b="1" lang="zh-CN" sz="111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队列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8"/>
          <p:cNvSpPr/>
          <p:nvPr/>
        </p:nvSpPr>
        <p:spPr>
          <a:xfrm>
            <a:off x="3017520" y="5358240"/>
            <a:ext cx="6107760" cy="40212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a78bfa"/>
                </a:solidFill>
                <a:effectLst/>
                <a:uFillTx/>
                <a:latin typeface="Noto Sans Mono CJK SC"/>
                <a:ea typeface="Noto Sans Mono CJK SC"/>
              </a:rPr>
              <a:t>POST /projects/{project_id}/ai/plan-action</a:t>
            </a:r>
            <a:endParaRPr b="0" lang="en-US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9"/>
          <p:cNvSpPr/>
          <p:nvPr/>
        </p:nvSpPr>
        <p:spPr>
          <a:xfrm>
            <a:off x="822960" y="5906880"/>
            <a:ext cx="10533600" cy="42012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a78bf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关键边界：</a:t>
            </a:r>
            <a:r>
              <a:rPr b="1" lang="en-US" sz="11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13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不直接绕过人执行命令；先生成计划，经过安全检查和人工确认后才进入执行队列。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ldNum" idx="14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DBEE0AE-18E5-4E1F-94B0-51E46AEE8F95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生成，人工确认，后端拦截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安全执行与日志追踪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11/15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786240" y="137160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62033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计划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2413800" y="1654920"/>
            <a:ext cx="42984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2843640" y="137160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用户确认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4471200" y="1654920"/>
            <a:ext cx="42984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4901040" y="137160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62033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安全检查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6528600" y="1654920"/>
            <a:ext cx="42984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6958440" y="137160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>
            <a:off x="8586000" y="1654920"/>
            <a:ext cx="429840" cy="360"/>
          </a:xfrm>
          <a:prstGeom prst="line">
            <a:avLst/>
          </a:prstGeom>
          <a:ln w="1270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9015840" y="1371600"/>
            <a:ext cx="1627200" cy="566640"/>
          </a:xfrm>
          <a:prstGeom prst="roundRect">
            <a:avLst>
              <a:gd name="adj" fmla="val 12903"/>
            </a:avLst>
          </a:prstGeom>
          <a:solidFill>
            <a:srgbClr val="162033"/>
          </a:solidFill>
          <a:ln w="1270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OperationLog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4901040" y="2359080"/>
            <a:ext cx="1407960" cy="56664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f87171"/>
                </a:solidFill>
                <a:effectLst/>
                <a:uFillTx/>
                <a:latin typeface="Noto Sans CJK SC"/>
                <a:ea typeface="Noto Sans CJK SC"/>
              </a:rPr>
              <a:t>危险命令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f87171"/>
                </a:solidFill>
                <a:effectLst/>
                <a:uFillTx/>
                <a:latin typeface="Noto Sans CJK SC"/>
                <a:ea typeface="Noto Sans CJK SC"/>
              </a:rPr>
              <a:t>阻断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5449680" y="1938240"/>
            <a:ext cx="82440" cy="420840"/>
          </a:xfrm>
          <a:prstGeom prst="line">
            <a:avLst/>
          </a:prstGeom>
          <a:ln w="12700">
            <a:solidFill>
              <a:srgbClr val="f8717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877680" y="3383280"/>
            <a:ext cx="550440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执行前必须由用户确认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后端对命令做安全检查，危险命令被阻断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前端不直接操作服务器，</a:t>
            </a: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0" lang="zh-CN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不直接执行命令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Executor </a:t>
            </a:r>
            <a:r>
              <a:rPr b="0" lang="zh-CN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只执行分配给自己的任务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Executor </a:t>
            </a:r>
            <a:r>
              <a:rPr b="0" lang="zh-CN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限制 </a:t>
            </a: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allowed-root</a:t>
            </a:r>
            <a:r>
              <a:rPr b="0" lang="zh-CN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，只访问允许目录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任务输入、执行结果和错误信息写入日志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6912720" y="3547800"/>
            <a:ext cx="804240" cy="292320"/>
          </a:xfrm>
          <a:prstGeom prst="roundRect">
            <a:avLst>
              <a:gd name="adj" fmla="val 16667"/>
            </a:avLst>
          </a:prstGeom>
          <a:solidFill>
            <a:srgbClr val="64748b">
              <a:alpha val="16000"/>
            </a:srgbClr>
          </a:solidFill>
          <a:ln w="10160">
            <a:solidFill>
              <a:srgbClr val="64748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queued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8"/>
          <p:cNvSpPr/>
          <p:nvPr/>
        </p:nvSpPr>
        <p:spPr>
          <a:xfrm>
            <a:off x="7918560" y="3547800"/>
            <a:ext cx="804240" cy="292320"/>
          </a:xfrm>
          <a:prstGeom prst="roundRect">
            <a:avLst>
              <a:gd name="adj" fmla="val 16667"/>
            </a:avLst>
          </a:prstGeom>
          <a:solidFill>
            <a:srgbClr val="fbbf24">
              <a:alpha val="16000"/>
            </a:srgbClr>
          </a:solidFill>
          <a:ln w="10160">
            <a:solidFill>
              <a:srgbClr val="fbbf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bbf24"/>
                </a:solidFill>
                <a:effectLst/>
                <a:uFillTx/>
                <a:latin typeface="Noto Sans CJK SC"/>
                <a:ea typeface="Noto Sans CJK SC"/>
              </a:rPr>
              <a:t>running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8924400" y="3547800"/>
            <a:ext cx="804240" cy="292320"/>
          </a:xfrm>
          <a:prstGeom prst="roundRect">
            <a:avLst>
              <a:gd name="adj" fmla="val 16667"/>
            </a:avLst>
          </a:prstGeom>
          <a:solidFill>
            <a:srgbClr val="34d399">
              <a:alpha val="16000"/>
            </a:srgbClr>
          </a:solidFill>
          <a:ln w="10160">
            <a:solidFill>
              <a:srgbClr val="34d399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completed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9930240" y="3547800"/>
            <a:ext cx="804240" cy="292320"/>
          </a:xfrm>
          <a:prstGeom prst="roundRect">
            <a:avLst>
              <a:gd name="adj" fmla="val 16667"/>
            </a:avLst>
          </a:prstGeom>
          <a:solidFill>
            <a:srgbClr val="f87171">
              <a:alpha val="16000"/>
            </a:srgbClr>
          </a:solidFill>
          <a:ln w="10160">
            <a:solidFill>
              <a:srgbClr val="f87171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87171"/>
                </a:solidFill>
                <a:effectLst/>
                <a:uFillTx/>
                <a:latin typeface="Noto Sans CJK SC"/>
                <a:ea typeface="Noto Sans CJK SC"/>
              </a:rPr>
              <a:t>failed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1"/>
          <p:cNvSpPr/>
          <p:nvPr/>
        </p:nvSpPr>
        <p:spPr>
          <a:xfrm>
            <a:off x="6858000" y="4206240"/>
            <a:ext cx="4187520" cy="69444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22d3e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ProjectPilot </a:t>
            </a:r>
            <a:r>
              <a:rPr b="1" lang="zh-CN" sz="12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强调“受控自动化”：计划可解释、执行可拦截、结果可追踪。</a:t>
            </a:r>
            <a:endParaRPr b="0" lang="en-US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sldNum" idx="15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0907803-613B-486A-A3D5-372FEE6A76C4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一次完整的检测与执行闭环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实际演示流程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12/15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658440" y="1207080"/>
            <a:ext cx="15908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1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查看项目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与服务器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2249280" y="1581840"/>
            <a:ext cx="31104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2560320" y="1207080"/>
            <a:ext cx="15908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2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选择目标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并点击检测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4151160" y="1581840"/>
            <a:ext cx="31104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4462200" y="1207080"/>
            <a:ext cx="15908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3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后端创建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detect </a:t>
            </a: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任务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6053040" y="1581840"/>
            <a:ext cx="31104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6364080" y="1207080"/>
            <a:ext cx="15908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4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拉取执行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7955280" y="1581840"/>
            <a:ext cx="31068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8266320" y="1207080"/>
            <a:ext cx="15908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5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回传结果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展示状态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4"/>
          <p:cNvSpPr/>
          <p:nvPr/>
        </p:nvSpPr>
        <p:spPr>
          <a:xfrm>
            <a:off x="9857160" y="1581840"/>
            <a:ext cx="310680" cy="360"/>
          </a:xfrm>
          <a:prstGeom prst="line">
            <a:avLst/>
          </a:prstGeom>
          <a:ln w="1143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10168200" y="1207080"/>
            <a:ext cx="1590840" cy="749520"/>
          </a:xfrm>
          <a:prstGeom prst="roundRect">
            <a:avLst>
              <a:gd name="adj" fmla="val 9756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6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计划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确认入队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6"/>
          <p:cNvSpPr/>
          <p:nvPr/>
        </p:nvSpPr>
        <p:spPr>
          <a:xfrm>
            <a:off x="731520" y="2487240"/>
            <a:ext cx="2514240" cy="1298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524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截图 </a:t>
            </a:r>
            <a:r>
              <a:rPr b="1" lang="en-US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1</a:t>
            </a: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：项目总览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待补充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3547800" y="2487240"/>
            <a:ext cx="2514240" cy="1298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524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截图 </a:t>
            </a:r>
            <a:r>
              <a:rPr b="1" lang="en-US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2</a:t>
            </a: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：服务器状态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待补充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8"/>
          <p:cNvSpPr/>
          <p:nvPr/>
        </p:nvSpPr>
        <p:spPr>
          <a:xfrm>
            <a:off x="6364080" y="2487240"/>
            <a:ext cx="2514240" cy="1298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524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截图 </a:t>
            </a:r>
            <a:r>
              <a:rPr b="1" lang="en-US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3</a:t>
            </a: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：任务队列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待补充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9180720" y="2487240"/>
            <a:ext cx="2239920" cy="1298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524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截图 </a:t>
            </a:r>
            <a:r>
              <a:rPr b="1" lang="en-US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4</a:t>
            </a: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：</a:t>
            </a:r>
            <a:r>
              <a:rPr b="1" lang="en-US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计划结果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2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待补充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0"/>
          <p:cNvSpPr/>
          <p:nvPr/>
        </p:nvSpPr>
        <p:spPr>
          <a:xfrm>
            <a:off x="987480" y="4370760"/>
            <a:ext cx="4992120" cy="3837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22d3ee"/>
                </a:solidFill>
                <a:effectLst/>
                <a:uFillTx/>
                <a:latin typeface="Noto Sans Mono CJK SC"/>
                <a:ea typeface="Noto Sans Mono CJK SC"/>
              </a:rPr>
              <a:t>POST /projects/{project_id}/servers/{server_id}/detect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1"/>
          <p:cNvSpPr/>
          <p:nvPr/>
        </p:nvSpPr>
        <p:spPr>
          <a:xfrm>
            <a:off x="6272640" y="4370760"/>
            <a:ext cx="4882680" cy="3837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0160">
            <a:solidFill>
              <a:srgbClr val="33415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34d399"/>
                </a:solidFill>
                <a:effectLst/>
                <a:uFillTx/>
                <a:latin typeface="Noto Sans Mono CJK SC"/>
                <a:ea typeface="Noto Sans Mono CJK SC"/>
              </a:rPr>
              <a:t>detect_git + detect_environment → queued → running → completed / failed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2"/>
          <p:cNvSpPr/>
          <p:nvPr/>
        </p:nvSpPr>
        <p:spPr>
          <a:xfrm>
            <a:off x="2505600" y="5285160"/>
            <a:ext cx="6967440" cy="51156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演示重点：展示状态变化，而不是只展示静态页面。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sldNum" idx="16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0106EE-A92C-4CCB-ACDA-87FBD6D90E69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中央控制、分布式执行、</a:t>
            </a:r>
            <a:r>
              <a:rPr b="1" lang="en-US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计划与留痕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项目创新点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13/15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877680" y="1572840"/>
            <a:ext cx="3035520" cy="1115280"/>
          </a:xfrm>
          <a:prstGeom prst="roundRect">
            <a:avLst>
              <a:gd name="adj" fmla="val 6557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统一管理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一个界面管理多服务器项目状态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4553640" y="1572840"/>
            <a:ext cx="3035520" cy="1115280"/>
          </a:xfrm>
          <a:prstGeom prst="roundRect">
            <a:avLst>
              <a:gd name="adj" fmla="val 6557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分布式执行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服务器主动拉任务，不依赖大量 </a:t>
            </a:r>
            <a:r>
              <a:rPr b="1" lang="en-US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SSH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8229600" y="1572840"/>
            <a:ext cx="3035520" cy="1115280"/>
          </a:xfrm>
          <a:prstGeom prst="roundRect">
            <a:avLst>
              <a:gd name="adj" fmla="val 6557"/>
            </a:avLst>
          </a:prstGeom>
          <a:solidFill>
            <a:srgbClr val="162033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辅助决策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自然语言需求生成结构化计划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932760" y="3310200"/>
            <a:ext cx="1005804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Git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智能分析：不只是展示 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status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，而是分析风险和下一步操作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安全执行：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0" lang="zh-CN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计划经过检查和人工确认后才执行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全流程留痕：任务状态、检测结果、错误信息和操作日志统一记录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960120" y="5139000"/>
            <a:ext cx="10103760" cy="56664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22d3e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4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创新点不是某个单一功能，而是把“看清状态 → 分析风险 → 生成计划 → 受控执行 → 留痕追踪”串成闭环。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sldNum" idx="17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7F810E4-CEF4-4970-A069-725E1EBC31E6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不足与展望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当前不足与后续优化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14/15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786240" y="1170360"/>
            <a:ext cx="4864320" cy="420120"/>
          </a:xfrm>
          <a:prstGeom prst="roundRect">
            <a:avLst>
              <a:gd name="adj" fmla="val 17391"/>
            </a:avLst>
          </a:prstGeom>
          <a:solidFill>
            <a:srgbClr val="162033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当前不足</a:t>
            </a:r>
            <a:endParaRPr b="0" lang="en-US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6"/>
          <p:cNvSpPr/>
          <p:nvPr/>
        </p:nvSpPr>
        <p:spPr>
          <a:xfrm>
            <a:off x="951120" y="1847160"/>
            <a:ext cx="4516920" cy="21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前后端接口字段仍需继续保持同步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Executor </a:t>
            </a:r>
            <a:r>
              <a:rPr b="0" lang="zh-CN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在线状态和心跳展示还可增强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任务取消、重试、优先级仍可扩展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AI Planner </a:t>
            </a:r>
            <a:r>
              <a:rPr b="0" lang="zh-CN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仍是初版，需求分类和多步骤工作流可增强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CORS </a:t>
            </a:r>
            <a:r>
              <a:rPr b="0" lang="zh-CN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与部署目前通过代理 </a:t>
            </a: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/ Tunnel </a:t>
            </a:r>
            <a:r>
              <a:rPr b="0" lang="zh-CN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解决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6473880" y="1170360"/>
            <a:ext cx="4864320" cy="420120"/>
          </a:xfrm>
          <a:prstGeom prst="roundRect">
            <a:avLst>
              <a:gd name="adj" fmla="val 17391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后续优化</a:t>
            </a:r>
            <a:endParaRPr b="0" lang="en-US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8"/>
          <p:cNvSpPr/>
          <p:nvPr/>
        </p:nvSpPr>
        <p:spPr>
          <a:xfrm>
            <a:off x="6638400" y="1847160"/>
            <a:ext cx="4516920" cy="21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Executor </a:t>
            </a:r>
            <a:r>
              <a:rPr b="0" lang="zh-CN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在线状态面板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任务取消、重试和超时机制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更细粒度权限控制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更完整的 </a:t>
            </a: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AI Planner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多项目、多服务器对比报告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40" strike="noStrike" u="none">
                <a:solidFill>
                  <a:srgbClr val="cbd5e1"/>
                </a:solidFill>
                <a:effectLst/>
                <a:uFillTx/>
                <a:latin typeface="Noto Sans CJK SC"/>
                <a:ea typeface="Noto Sans CJK SC"/>
              </a:rPr>
              <a:t>• 更完善的前端交互和可视化</a:t>
            </a:r>
            <a:endParaRPr b="0" lang="en-US" sz="13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1993320" y="507492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fbbf24">
              <a:alpha val="16000"/>
            </a:srgbClr>
          </a:solidFill>
          <a:ln w="10160">
            <a:solidFill>
              <a:srgbClr val="fbbf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trike="noStrike" u="none">
                <a:solidFill>
                  <a:srgbClr val="fbbf24"/>
                </a:solidFill>
                <a:effectLst/>
                <a:uFillTx/>
                <a:latin typeface="Noto Sans CJK SC"/>
                <a:ea typeface="Noto Sans CJK SC"/>
              </a:rPr>
              <a:t>稳定性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0"/>
          <p:cNvSpPr/>
          <p:nvPr/>
        </p:nvSpPr>
        <p:spPr>
          <a:xfrm>
            <a:off x="3182040" y="5248440"/>
            <a:ext cx="511920" cy="360"/>
          </a:xfrm>
          <a:prstGeom prst="line">
            <a:avLst/>
          </a:prstGeom>
          <a:ln w="1016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3694320" y="507492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60a5fa">
              <a:alpha val="16000"/>
            </a:srgbClr>
          </a:solidFill>
          <a:ln w="10160">
            <a:solidFill>
              <a:srgbClr val="60a5fa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trike="noStrike" u="none">
                <a:solidFill>
                  <a:srgbClr val="60a5fa"/>
                </a:solidFill>
                <a:effectLst/>
                <a:uFillTx/>
                <a:latin typeface="Noto Sans CJK SC"/>
                <a:ea typeface="Noto Sans CJK SC"/>
              </a:rPr>
              <a:t>可视化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4882680" y="5248440"/>
            <a:ext cx="512280" cy="360"/>
          </a:xfrm>
          <a:prstGeom prst="line">
            <a:avLst/>
          </a:prstGeom>
          <a:ln w="1016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3"/>
          <p:cNvSpPr/>
          <p:nvPr/>
        </p:nvSpPr>
        <p:spPr>
          <a:xfrm>
            <a:off x="5394960" y="507492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34d399">
              <a:alpha val="16000"/>
            </a:srgbClr>
          </a:solidFill>
          <a:ln w="10160">
            <a:solidFill>
              <a:srgbClr val="34d399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trike="noStrike" u="none">
                <a:solidFill>
                  <a:srgbClr val="34d399"/>
                </a:solidFill>
                <a:effectLst/>
                <a:uFillTx/>
                <a:latin typeface="Noto Sans CJK SC"/>
                <a:ea typeface="Noto Sans CJK SC"/>
              </a:rPr>
              <a:t>权限控制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4"/>
          <p:cNvSpPr/>
          <p:nvPr/>
        </p:nvSpPr>
        <p:spPr>
          <a:xfrm>
            <a:off x="6583680" y="5248440"/>
            <a:ext cx="511920" cy="360"/>
          </a:xfrm>
          <a:prstGeom prst="line">
            <a:avLst/>
          </a:prstGeom>
          <a:ln w="1016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7095600" y="507492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a78bfa">
              <a:alpha val="16000"/>
            </a:srgbClr>
          </a:solidFill>
          <a:ln w="10160">
            <a:solidFill>
              <a:srgbClr val="a78bfa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trike="noStrike" u="none">
                <a:solidFill>
                  <a:srgbClr val="a78bfa"/>
                </a:solidFill>
                <a:effectLst/>
                <a:uFillTx/>
                <a:latin typeface="Noto Sans CJK SC"/>
                <a:ea typeface="Noto Sans CJK SC"/>
              </a:rPr>
              <a:t>工程化部署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6"/>
          <p:cNvSpPr/>
          <p:nvPr/>
        </p:nvSpPr>
        <p:spPr>
          <a:xfrm>
            <a:off x="1956960" y="5724000"/>
            <a:ext cx="8183520" cy="40212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核心闭环已经跑通，后续重点是增强稳定性、可视化和工程化能力。</a:t>
            </a:r>
            <a:endParaRPr b="0" lang="en-US" sz="11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sldNum" idx="18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8C446CD-AB2B-49D9-806C-602C4B238F12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566640" y="255960"/>
            <a:ext cx="1060920" cy="360"/>
          </a:xfrm>
          <a:prstGeom prst="line">
            <a:avLst/>
          </a:prstGeom>
          <a:ln w="2794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"/>
          <p:cNvSpPr/>
          <p:nvPr/>
        </p:nvSpPr>
        <p:spPr>
          <a:xfrm>
            <a:off x="1691640" y="255960"/>
            <a:ext cx="9921240" cy="360"/>
          </a:xfrm>
          <a:prstGeom prst="line">
            <a:avLst/>
          </a:prstGeom>
          <a:ln w="8890">
            <a:solidFill>
              <a:srgbClr val="33415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567000" y="39312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总结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585360" y="804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Noto Sans CJK SC"/>
                <a:ea typeface="Noto Sans CJK SC"/>
              </a:rPr>
              <a:t>Q&amp;A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585360" y="6556320"/>
            <a:ext cx="2559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ProjectPilot · 15/15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841320" y="1188720"/>
            <a:ext cx="10533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5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一个能看、能分析、能调度、能执行的项目管理平台</a:t>
            </a:r>
            <a:endParaRPr b="0" lang="en-US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1234440" y="2103120"/>
            <a:ext cx="9673920" cy="658080"/>
          </a:xfrm>
          <a:prstGeom prst="roundRect">
            <a:avLst>
              <a:gd name="adj" fmla="val 16667"/>
            </a:avLst>
          </a:prstGeom>
          <a:solidFill>
            <a:srgbClr val="162033"/>
          </a:solidFill>
          <a:ln w="11430">
            <a:solidFill>
              <a:srgbClr val="22d3e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ProjectPilot </a:t>
            </a:r>
            <a:r>
              <a:rPr b="1" lang="zh-CN" sz="14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将多服务器项目环境检测、</a:t>
            </a:r>
            <a:r>
              <a:rPr b="1" lang="en-US" sz="14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Git </a:t>
            </a:r>
            <a:r>
              <a:rPr b="1" lang="zh-CN" sz="148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状态识别、配置计划生成和任务执行串成完整闭环。</a:t>
            </a:r>
            <a:endParaRPr b="0" lang="en-US" sz="14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1143000" y="3346560"/>
            <a:ext cx="2614680" cy="840960"/>
          </a:xfrm>
          <a:prstGeom prst="roundRect">
            <a:avLst>
              <a:gd name="adj" fmla="val 8696"/>
            </a:avLst>
          </a:prstGeom>
          <a:solidFill>
            <a:srgbClr val="162033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前端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统一展示和用户操作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4581000" y="3346560"/>
            <a:ext cx="2614680" cy="840960"/>
          </a:xfrm>
          <a:prstGeom prst="roundRect">
            <a:avLst>
              <a:gd name="adj" fmla="val 8696"/>
            </a:avLst>
          </a:prstGeom>
          <a:solidFill>
            <a:srgbClr val="162033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后端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数据管理、</a:t>
            </a:r>
            <a:r>
              <a:rPr b="1" lang="en-US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AI </a:t>
            </a: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分析和任务调度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8019360" y="3346560"/>
            <a:ext cx="2614680" cy="840960"/>
          </a:xfrm>
          <a:prstGeom prst="roundRect">
            <a:avLst>
              <a:gd name="adj" fmla="val 8696"/>
            </a:avLst>
          </a:prstGeom>
          <a:solidFill>
            <a:srgbClr val="162033"/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Executor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20" strike="noStrike" u="none">
                <a:solidFill>
                  <a:srgbClr val="f8fafc"/>
                </a:solidFill>
                <a:effectLst/>
                <a:uFillTx/>
                <a:latin typeface="Noto Sans CJK SC"/>
                <a:ea typeface="Noto Sans CJK SC"/>
              </a:rPr>
              <a:t>本机执行任务并回传结果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841320" y="5358240"/>
            <a:ext cx="10533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22d3ee"/>
                </a:solidFill>
                <a:effectLst/>
                <a:uFillTx/>
                <a:latin typeface="Noto Sans CJK SC"/>
                <a:ea typeface="Noto Sans CJK SC"/>
              </a:rPr>
              <a:t>谢谢观看 </a:t>
            </a:r>
            <a:r>
              <a:rPr b="1" lang="en-US" sz="2400" strike="noStrike" u="none">
                <a:solidFill>
                  <a:srgbClr val="22d3ee"/>
                </a:solidFill>
                <a:effectLst/>
                <a:uFillTx/>
                <a:latin typeface="Noto Sans CJK SC"/>
                <a:ea typeface="Noto Sans CJK SC"/>
              </a:rPr>
              <a:t>/ Q&amp;A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Num" idx="19"/>
          </p:nvPr>
        </p:nvSpPr>
        <p:spPr>
          <a:xfrm>
            <a:off x="1104588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878973B-9655-4ADD-A25F-F411C62372BC}" type="slidenum">
              <a:rPr b="0" lang="en-US" sz="800" strike="noStrike" u="none">
                <a:solidFill>
                  <a:srgbClr val="64748b"/>
                </a:solidFill>
                <a:effectLst/>
                <a:uFillTx/>
                <a:latin typeface="Noto Sans CJK SC"/>
                <a:ea typeface="Noto Sans CJK SC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 pitchFamily="0" charset="1"/>
        <a:ea typeface=""/>
        <a:cs typeface=""/>
      </a:majorFont>
      <a:minorFont>
        <a:latin typeface="Noto Sans CJK S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2026-06-09T07:47:33Z</dcterms:created>
  <dc:creator>OpenAI</dc:creator>
  <dc:description/>
  <dc:language>en-US</dc:language>
  <cp:lastModifiedBy>OpenAI</cp:lastModifiedBy>
  <dcterms:modified xsi:type="dcterms:W3CDTF">2026-06-09T07:47:33Z</dcterms:modified>
  <cp:revision>1</cp:revision>
  <dc:subject>ProjectPilot 汇报 PPT</dc:subject>
  <dc:title>ProjectPilot 汇报 PPT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